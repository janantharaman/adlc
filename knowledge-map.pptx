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2336" y="27432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27432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65176"/>
            <a:ext cx="36576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ADLC Knowledge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50292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GDC Professional Services — Grounding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65176"/>
            <a:ext cx="402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11 Clouds  |  80 Knowledge Files  |  ~36,000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66344"/>
            <a:ext cx="4023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  <a:latin typeface="Calibri"/>
              </a:rPr>
              <a:t>Last updated: 11 May 2026  ·  API v67.0 (Spring '26)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795528"/>
            <a:ext cx="20116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475569"/>
                </a:solidFill>
                <a:latin typeface="Calibri"/>
              </a:rPr>
              <a:t>GENERIC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795528"/>
            <a:ext cx="8686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i="0">
                <a:solidFill>
                  <a:srgbClr val="475569"/>
                </a:solidFill>
                <a:latin typeface="Calibri"/>
              </a:rPr>
              <a:t>CLOUD-SPECIFIC KNOWLEDGE — knowledge/clouds/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" y="978408"/>
            <a:ext cx="2029968" cy="333756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7899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📁  knowledge/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280160"/>
            <a:ext cx="1645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Calibri"/>
              </a:rPr>
              <a:t>Platform-wide 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472184"/>
            <a:ext cx="1847088" cy="23774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49047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1508760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security-baseline.md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1508760"/>
            <a:ext cx="402336" cy="155448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19" y="1508760"/>
            <a:ext cx="40233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0A5FA"/>
                </a:solidFill>
                <a:latin typeface="Calibri"/>
              </a:rPr>
              <a:t>Well-Arch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1764792"/>
            <a:ext cx="1847088" cy="23774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78308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1801368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governor-limits.md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1801368"/>
            <a:ext cx="402336" cy="155448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1801368"/>
            <a:ext cx="40233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0A5FA"/>
                </a:solidFill>
                <a:latin typeface="Calibri"/>
              </a:rPr>
              <a:t>Well-Arch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057400"/>
            <a:ext cx="1847088" cy="23774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07568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093976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naming-conventions.md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2093976"/>
            <a:ext cx="402336" cy="155448"/>
          </a:xfrm>
          <a:prstGeom prst="roundRect">
            <a:avLst>
              <a:gd name="adj" fmla="val 12000"/>
            </a:avLst>
          </a:prstGeom>
          <a:solidFill>
            <a:srgbClr val="1E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74519" y="2093976"/>
            <a:ext cx="40233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4ADE80"/>
                </a:solidFill>
                <a:latin typeface="Calibri"/>
              </a:rPr>
              <a:t>Platform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350008"/>
            <a:ext cx="1847088" cy="237744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36829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2386584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sdd-template.md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2386584"/>
            <a:ext cx="402336" cy="155448"/>
          </a:xfrm>
          <a:prstGeom prst="roundRect">
            <a:avLst>
              <a:gd name="adj" fmla="val 12000"/>
            </a:avLst>
          </a:prstGeom>
          <a:solidFill>
            <a:srgbClr val="1E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19" y="2386584"/>
            <a:ext cx="40233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4ADE80"/>
                </a:solidFill>
                <a:latin typeface="Calibri"/>
              </a:rPr>
              <a:t>Platform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2679192"/>
            <a:ext cx="1847088" cy="621792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2715768"/>
            <a:ext cx="91440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1" i="0">
                <a:solidFill>
                  <a:srgbClr val="475569"/>
                </a:solidFill>
                <a:latin typeface="Calibri"/>
              </a:rPr>
              <a:t>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2843784"/>
            <a:ext cx="1664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architect.salesforce.com</a:t>
            </a:r>
          </a:p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Well-Architected Framework</a:t>
            </a:r>
          </a:p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Salesforce Platform Limits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15184" y="978408"/>
            <a:ext cx="9171432" cy="557784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61488" y="107899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📁  clouds/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62656" y="1280160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Calibri"/>
              </a:rPr>
              <a:t>11 industry clouds · 76 knowledge files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15768" y="1481328"/>
            <a:ext cx="2112264" cy="1463040"/>
          </a:xfrm>
          <a:prstGeom prst="roundRect">
            <a:avLst>
              <a:gd name="adj" fmla="val 12000"/>
            </a:avLst>
          </a:prstGeom>
          <a:solidFill>
            <a:srgbClr val="0C1A2E"/>
          </a:solidFill>
          <a:ln w="9525">
            <a:solidFill>
              <a:srgbClr val="1D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15768" y="1481328"/>
            <a:ext cx="2112264" cy="25603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07208" y="1545336"/>
            <a:ext cx="1984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E2E8F0"/>
                </a:solidFill>
                <a:latin typeface="Calibri"/>
              </a:rPr>
              <a:t>Financial Services Cloud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07208" y="1764792"/>
            <a:ext cx="1188720" cy="155448"/>
          </a:xfrm>
          <a:prstGeom prst="roundRect">
            <a:avLst>
              <a:gd name="adj" fmla="val 12000"/>
            </a:avLst>
          </a:prstGeom>
          <a:solidFill>
            <a:srgbClr val="0C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07208" y="1764792"/>
            <a:ext cx="11887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0A5FA"/>
                </a:solidFill>
                <a:latin typeface="Calibri"/>
              </a:rPr>
              <a:t>● Grounded · 8 files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07208" y="1947672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07208" y="1947672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overview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74136" y="194767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74136" y="194767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data-model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50792" y="194767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50792" y="194767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automation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07208" y="2125979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07208" y="2125979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gotchas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19272" y="2125979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19272" y="2125979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security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86200" y="2125979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86200" y="2125979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api-ref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07208" y="2304287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07208" y="2304287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impl-guide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83864" y="2304287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83864" y="2304287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metadata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7208" y="274320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1">
                <a:solidFill>
                  <a:srgbClr val="475569"/>
                </a:solidFill>
                <a:latin typeface="Calibri"/>
              </a:rPr>
              <a:t>developer.salesforce.com · Spring '26 (API v67)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10328" y="1481328"/>
            <a:ext cx="2112264" cy="1463040"/>
          </a:xfrm>
          <a:prstGeom prst="roundRect">
            <a:avLst>
              <a:gd name="adj" fmla="val 12000"/>
            </a:avLst>
          </a:prstGeom>
          <a:solidFill>
            <a:srgbClr val="0C1A2E"/>
          </a:solidFill>
          <a:ln w="9525">
            <a:solidFill>
              <a:srgbClr val="1D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10328" y="1481328"/>
            <a:ext cx="2112264" cy="25603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01768" y="1545336"/>
            <a:ext cx="1984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E2E8F0"/>
                </a:solidFill>
                <a:latin typeface="Calibri"/>
              </a:rPr>
              <a:t>Manufacturing Cloud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01768" y="1764792"/>
            <a:ext cx="1188720" cy="155448"/>
          </a:xfrm>
          <a:prstGeom prst="roundRect">
            <a:avLst>
              <a:gd name="adj" fmla="val 12000"/>
            </a:avLst>
          </a:prstGeom>
          <a:solidFill>
            <a:srgbClr val="0C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01768" y="1764792"/>
            <a:ext cx="11887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0A5FA"/>
                </a:solidFill>
                <a:latin typeface="Calibri"/>
              </a:rPr>
              <a:t>● Grounded · 8 files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01768" y="1947672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01768" y="1947672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overview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568696" y="194767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68696" y="194767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data-model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45352" y="194767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45352" y="194767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automation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01768" y="2125979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01768" y="2125979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gotchas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13831" y="2125979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13831" y="2125979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security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80759" y="2125979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80759" y="2125979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api-ref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01768" y="2304287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01768" y="2304287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impl-guide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78424" y="2304287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78424" y="2304287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metadata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01768" y="274320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1">
                <a:solidFill>
                  <a:srgbClr val="475569"/>
                </a:solidFill>
                <a:latin typeface="Calibri"/>
              </a:rPr>
              <a:t>Mfg Cloud Dev Guide (605p, Spring '26)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104888" y="1481328"/>
            <a:ext cx="2112264" cy="1463040"/>
          </a:xfrm>
          <a:prstGeom prst="roundRect">
            <a:avLst>
              <a:gd name="adj" fmla="val 12000"/>
            </a:avLst>
          </a:prstGeom>
          <a:solidFill>
            <a:srgbClr val="0C1A2E"/>
          </a:solidFill>
          <a:ln w="9525">
            <a:solidFill>
              <a:srgbClr val="1D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04888" y="1481328"/>
            <a:ext cx="2112264" cy="25603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96327" y="1545336"/>
            <a:ext cx="1984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E2E8F0"/>
                </a:solidFill>
                <a:latin typeface="Calibri"/>
              </a:rPr>
              <a:t>Revenue Cloud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196327" y="1764792"/>
            <a:ext cx="1188720" cy="155448"/>
          </a:xfrm>
          <a:prstGeom prst="roundRect">
            <a:avLst>
              <a:gd name="adj" fmla="val 12000"/>
            </a:avLst>
          </a:prstGeom>
          <a:solidFill>
            <a:srgbClr val="0C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96327" y="1764792"/>
            <a:ext cx="11887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0A5FA"/>
                </a:solidFill>
                <a:latin typeface="Calibri"/>
              </a:rPr>
              <a:t>● Grounded · 7 files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96327" y="1947672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96327" y="1947672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overview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763255" y="194767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63255" y="194767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data-model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439911" y="194767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39911" y="194767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automation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196327" y="2125979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96327" y="2125979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gotchas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708392" y="2125979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708392" y="2125979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security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275319" y="2125979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75319" y="2125979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impl-guide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196327" y="2304287"/>
            <a:ext cx="749808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196327" y="2304287"/>
            <a:ext cx="74980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discovery-Qs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96327" y="274320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1">
                <a:solidFill>
                  <a:srgbClr val="475569"/>
                </a:solidFill>
                <a:latin typeface="Calibri"/>
              </a:rPr>
              <a:t>Revenue Lifecycle Mgmt Dev Guide (2373p)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299448" y="1481328"/>
            <a:ext cx="2112264" cy="1463040"/>
          </a:xfrm>
          <a:prstGeom prst="roundRect">
            <a:avLst>
              <a:gd name="adj" fmla="val 12000"/>
            </a:avLst>
          </a:prstGeom>
          <a:solidFill>
            <a:srgbClr val="0C1A2E"/>
          </a:solidFill>
          <a:ln w="9525">
            <a:solidFill>
              <a:srgbClr val="1D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9448" y="1481328"/>
            <a:ext cx="2112264" cy="25603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390888" y="1545336"/>
            <a:ext cx="1984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E2E8F0"/>
                </a:solidFill>
                <a:latin typeface="Calibri"/>
              </a:rPr>
              <a:t>Telecommunications Cloud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390888" y="1764792"/>
            <a:ext cx="1188720" cy="155448"/>
          </a:xfrm>
          <a:prstGeom prst="roundRect">
            <a:avLst>
              <a:gd name="adj" fmla="val 12000"/>
            </a:avLst>
          </a:prstGeom>
          <a:solidFill>
            <a:srgbClr val="0C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390888" y="1764792"/>
            <a:ext cx="11887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0A5FA"/>
                </a:solidFill>
                <a:latin typeface="Calibri"/>
              </a:rPr>
              <a:t>● Grounded · 8 files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390888" y="1947672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90888" y="1947672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overview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957815" y="194767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957815" y="194767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data-model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634472" y="194767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634472" y="194767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automation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390888" y="2125979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390888" y="2125979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gotchas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902952" y="2125979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902952" y="2125979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security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469880" y="2125979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469880" y="2125979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api-ref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390888" y="2304287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390888" y="2304287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impl-guide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067544" y="2304287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067544" y="2304287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metadata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90888" y="274320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1">
                <a:solidFill>
                  <a:srgbClr val="475569"/>
                </a:solidFill>
                <a:latin typeface="Calibri"/>
              </a:rPr>
              <a:t>CME Dev Guide (2822p) · B2B + B2C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715768" y="3035808"/>
            <a:ext cx="2112264" cy="1463040"/>
          </a:xfrm>
          <a:prstGeom prst="roundRect">
            <a:avLst>
              <a:gd name="adj" fmla="val 12000"/>
            </a:avLst>
          </a:prstGeom>
          <a:solidFill>
            <a:srgbClr val="0C1A2E"/>
          </a:solidFill>
          <a:ln w="9525">
            <a:solidFill>
              <a:srgbClr val="1D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715768" y="3035808"/>
            <a:ext cx="2112264" cy="25603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807208" y="3099816"/>
            <a:ext cx="1984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E2E8F0"/>
                </a:solidFill>
                <a:latin typeface="Calibri"/>
              </a:rPr>
              <a:t>Sales Cloud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807208" y="3319272"/>
            <a:ext cx="1188720" cy="155448"/>
          </a:xfrm>
          <a:prstGeom prst="roundRect">
            <a:avLst>
              <a:gd name="adj" fmla="val 12000"/>
            </a:avLst>
          </a:prstGeom>
          <a:solidFill>
            <a:srgbClr val="0C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807208" y="3319272"/>
            <a:ext cx="11887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0A5FA"/>
                </a:solidFill>
                <a:latin typeface="Calibri"/>
              </a:rPr>
              <a:t>● Grounded · 8 files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807208" y="3502152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807208" y="3502152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overview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374136" y="350215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374136" y="350215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data-model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050792" y="350215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050792" y="350215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automation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807208" y="3680460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807208" y="3680460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gotchas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319272" y="3680460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319272" y="3680460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security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886200" y="3680460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886200" y="3680460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api-ref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807208" y="3858768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807208" y="3858768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impl-guide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483864" y="3858768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483864" y="3858768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metadata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807208" y="429768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1">
                <a:solidFill>
                  <a:srgbClr val="475569"/>
                </a:solidFill>
                <a:latin typeface="Calibri"/>
              </a:rPr>
              <a:t>developer.salesforce.com · Spring '26 (API v67)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910328" y="3035808"/>
            <a:ext cx="2112264" cy="1463040"/>
          </a:xfrm>
          <a:prstGeom prst="roundRect">
            <a:avLst>
              <a:gd name="adj" fmla="val 12000"/>
            </a:avLst>
          </a:prstGeom>
          <a:solidFill>
            <a:srgbClr val="0C1A2E"/>
          </a:solidFill>
          <a:ln w="9525">
            <a:solidFill>
              <a:srgbClr val="1D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910328" y="3035808"/>
            <a:ext cx="2112264" cy="25603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001768" y="3099816"/>
            <a:ext cx="1984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E2E8F0"/>
                </a:solidFill>
                <a:latin typeface="Calibri"/>
              </a:rPr>
              <a:t>Service Cloud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001768" y="3319272"/>
            <a:ext cx="1188720" cy="155448"/>
          </a:xfrm>
          <a:prstGeom prst="roundRect">
            <a:avLst>
              <a:gd name="adj" fmla="val 12000"/>
            </a:avLst>
          </a:prstGeom>
          <a:solidFill>
            <a:srgbClr val="0C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001768" y="3319272"/>
            <a:ext cx="11887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0A5FA"/>
                </a:solidFill>
                <a:latin typeface="Calibri"/>
              </a:rPr>
              <a:t>● Grounded · 8 files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001768" y="3502152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001768" y="3502152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overview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568696" y="350215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568696" y="350215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data-model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245352" y="350215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245352" y="350215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automation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001768" y="3680460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001768" y="3680460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gotchas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513831" y="3680460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513831" y="3680460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security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080759" y="3680460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080759" y="3680460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api-ref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001768" y="3858768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001768" y="3858768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impl-guide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678424" y="3858768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678424" y="3858768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metadata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001768" y="429768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1">
                <a:solidFill>
                  <a:srgbClr val="475569"/>
                </a:solidFill>
                <a:latin typeface="Calibri"/>
              </a:rPr>
              <a:t>Service Cloud Dev Guide (1374p) · Spring '26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104888" y="3035808"/>
            <a:ext cx="2112264" cy="1463040"/>
          </a:xfrm>
          <a:prstGeom prst="roundRect">
            <a:avLst>
              <a:gd name="adj" fmla="val 12000"/>
            </a:avLst>
          </a:prstGeom>
          <a:solidFill>
            <a:srgbClr val="0C1A2E"/>
          </a:solidFill>
          <a:ln w="9525">
            <a:solidFill>
              <a:srgbClr val="1D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104888" y="3035808"/>
            <a:ext cx="2112264" cy="25603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196327" y="3099816"/>
            <a:ext cx="1984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E2E8F0"/>
                </a:solidFill>
                <a:latin typeface="Calibri"/>
              </a:rPr>
              <a:t>Automotive Cloud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7196327" y="3319272"/>
            <a:ext cx="1188720" cy="155448"/>
          </a:xfrm>
          <a:prstGeom prst="roundRect">
            <a:avLst>
              <a:gd name="adj" fmla="val 12000"/>
            </a:avLst>
          </a:prstGeom>
          <a:solidFill>
            <a:srgbClr val="0C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196327" y="3319272"/>
            <a:ext cx="11887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0A5FA"/>
                </a:solidFill>
                <a:latin typeface="Calibri"/>
              </a:rPr>
              <a:t>● Grounded · 8 files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7196327" y="3502152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196327" y="3502152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overview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7763255" y="350215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763255" y="350215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data-model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8439911" y="350215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439911" y="350215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automation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196327" y="3680460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196327" y="3680460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gotchas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708392" y="3680460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708392" y="3680460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7DD3FC"/>
                </a:solidFill>
                <a:latin typeface="Courier New"/>
              </a:rPr>
              <a:t>security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8275319" y="3680460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275319" y="3680460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api-ref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7196327" y="3858768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7196327" y="3858768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impl-guide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7872983" y="3858768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872983" y="3858768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6EE7B7"/>
                </a:solidFill>
                <a:latin typeface="Courier New"/>
              </a:rPr>
              <a:t>metadata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196327" y="429768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1">
                <a:solidFill>
                  <a:srgbClr val="475569"/>
                </a:solidFill>
                <a:latin typeface="Calibri"/>
              </a:rPr>
              <a:t>Automotive Cloud Dev Guide v66.0 (425p)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9299448" y="3035808"/>
            <a:ext cx="2112264" cy="146304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299448" y="3035808"/>
            <a:ext cx="2112264" cy="2560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9390888" y="3099816"/>
            <a:ext cx="1984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Health Cloud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9390888" y="3319272"/>
            <a:ext cx="1188720" cy="155448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390888" y="3319272"/>
            <a:ext cx="11887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4748B"/>
                </a:solidFill>
                <a:latin typeface="Calibri"/>
              </a:rPr>
              <a:t>○ Stub · 5 files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9390888" y="3502152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390888" y="3502152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overview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957815" y="350215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9957815" y="350215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data-model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10634472" y="350215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634472" y="350215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automation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9390888" y="3680460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390888" y="3680460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gotchas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9902952" y="3680460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9902952" y="3680460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security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390888" y="429768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1">
                <a:solidFill>
                  <a:srgbClr val="475569"/>
                </a:solidFill>
                <a:latin typeface="Calibri"/>
              </a:rPr>
              <a:t>Awaiting grounding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2715768" y="4590288"/>
            <a:ext cx="2112264" cy="146304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715768" y="4590288"/>
            <a:ext cx="2112264" cy="2560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807208" y="4654296"/>
            <a:ext cx="1984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Experience Cloud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2807208" y="4873752"/>
            <a:ext cx="1188720" cy="155448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807208" y="4873752"/>
            <a:ext cx="11887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4748B"/>
                </a:solidFill>
                <a:latin typeface="Calibri"/>
              </a:rPr>
              <a:t>○ Stub · 5 files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2807208" y="5056632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2807208" y="5056632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overview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3374136" y="505663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374136" y="505663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data-model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050792" y="505663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050792" y="505663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automation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2807208" y="5234940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807208" y="5234940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gotchas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3319272" y="5234940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3319272" y="5234940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security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807208" y="585216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1">
                <a:solidFill>
                  <a:srgbClr val="475569"/>
                </a:solidFill>
                <a:latin typeface="Calibri"/>
              </a:rPr>
              <a:t>Awaiting grounding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4910328" y="4590288"/>
            <a:ext cx="2112264" cy="146304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910328" y="4590288"/>
            <a:ext cx="2112264" cy="2560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001768" y="4654296"/>
            <a:ext cx="1984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Consumer Goods Cloud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5001768" y="4873752"/>
            <a:ext cx="1188720" cy="155448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5001768" y="4873752"/>
            <a:ext cx="11887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4748B"/>
                </a:solidFill>
                <a:latin typeface="Calibri"/>
              </a:rPr>
              <a:t>○ Stub · 5 files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5001768" y="5056632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001768" y="5056632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overview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568696" y="505663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568696" y="505663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data-model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6245352" y="505663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245352" y="505663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automation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001768" y="5234940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5001768" y="5234940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gotchas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5513831" y="5234940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513831" y="5234940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security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001768" y="585216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1">
                <a:solidFill>
                  <a:srgbClr val="475569"/>
                </a:solidFill>
                <a:latin typeface="Calibri"/>
              </a:rPr>
              <a:t>Awaiting grounding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7104888" y="4590288"/>
            <a:ext cx="2112264" cy="146304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104888" y="4590288"/>
            <a:ext cx="2112264" cy="2560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196327" y="4654296"/>
            <a:ext cx="19842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Life Sciences Cloud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7196327" y="4873752"/>
            <a:ext cx="1188720" cy="155448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196327" y="4873752"/>
            <a:ext cx="118872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 i="0">
                <a:solidFill>
                  <a:srgbClr val="64748B"/>
                </a:solidFill>
                <a:latin typeface="Calibri"/>
              </a:rPr>
              <a:t>○ Stub · 5 files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7196327" y="5056632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7196327" y="5056632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overview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7763255" y="505663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7763255" y="505663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data-model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8439911" y="5056632"/>
            <a:ext cx="640080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439911" y="5056632"/>
            <a:ext cx="640080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automation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7196327" y="5234940"/>
            <a:ext cx="475488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7196327" y="5234940"/>
            <a:ext cx="475488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gotchas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7708392" y="5234940"/>
            <a:ext cx="530352" cy="141732"/>
          </a:xfrm>
          <a:prstGeom prst="roundRect">
            <a:avLst>
              <a:gd name="adj" fmla="val 12000"/>
            </a:avLst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7708392" y="5234940"/>
            <a:ext cx="530352" cy="141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475569"/>
                </a:solidFill>
                <a:latin typeface="Courier New"/>
              </a:rPr>
              <a:t>security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196327" y="5852160"/>
            <a:ext cx="19842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1">
                <a:solidFill>
                  <a:srgbClr val="475569"/>
                </a:solidFill>
                <a:latin typeface="Calibri"/>
              </a:rPr>
              <a:t>Awaiting grounding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2715768" y="6007607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2862072" y="5989320"/>
            <a:ext cx="21945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Fully grounded (official docs / PDFs)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5093208" y="6007607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5239512" y="5989320"/>
            <a:ext cx="21945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Stub (hand-authored, not yet grounded)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7488936" y="6007607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7635240" y="5989320"/>
            <a:ext cx="26517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Extended files (api-ref, impl-guide, metadata)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9802368" y="5952744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i="0">
                <a:solidFill>
                  <a:srgbClr val="F8FAFC"/>
                </a:solidFill>
                <a:latin typeface="Calibri"/>
              </a:rPr>
              <a:t>7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674352" y="6163056"/>
            <a:ext cx="512064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 b="0" i="0">
                <a:solidFill>
                  <a:srgbClr val="475569"/>
                </a:solidFill>
                <a:latin typeface="Calibri"/>
              </a:rPr>
              <a:t>Grounded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0561320" y="5952744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i="0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0488168" y="6163056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 b="0" i="0">
                <a:solidFill>
                  <a:srgbClr val="475569"/>
                </a:solidFill>
                <a:latin typeface="Calibri"/>
              </a:rPr>
              <a:t>Stubs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1338560" y="595274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i="0">
                <a:solidFill>
                  <a:srgbClr val="F8FAFC"/>
                </a:solidFill>
                <a:latin typeface="Calibri"/>
              </a:rPr>
              <a:t>80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1109960" y="6163056"/>
            <a:ext cx="694944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 b="0" i="0">
                <a:solidFill>
                  <a:srgbClr val="475569"/>
                </a:solidFill>
                <a:latin typeface="Calibri"/>
              </a:rPr>
              <a:t>Total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